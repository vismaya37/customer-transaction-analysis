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5" r:id="rId1"/>
  </p:sldMasterIdLst>
  <p:notesMasterIdLst>
    <p:notesMasterId r:id="rId17"/>
  </p:notesMasterIdLst>
  <p:sldIdLst>
    <p:sldId id="256" r:id="rId2"/>
    <p:sldId id="257" r:id="rId3"/>
    <p:sldId id="268" r:id="rId4"/>
    <p:sldId id="271" r:id="rId5"/>
    <p:sldId id="261" r:id="rId6"/>
    <p:sldId id="262" r:id="rId7"/>
    <p:sldId id="263" r:id="rId8"/>
    <p:sldId id="264" r:id="rId9"/>
    <p:sldId id="265" r:id="rId10"/>
    <p:sldId id="281" r:id="rId11"/>
    <p:sldId id="272" r:id="rId12"/>
    <p:sldId id="284" r:id="rId13"/>
    <p:sldId id="274" r:id="rId14"/>
    <p:sldId id="277" r:id="rId15"/>
    <p:sldId id="27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7D43E83-F928-40CB-AE48-E2E31333DB88}">
          <p14:sldIdLst>
            <p14:sldId id="256"/>
          </p14:sldIdLst>
        </p14:section>
        <p14:section name="Untitled Section" id="{E14BEF7E-7C4B-4039-81BB-035EC64D1198}">
          <p14:sldIdLst>
            <p14:sldId id="257"/>
            <p14:sldId id="268"/>
            <p14:sldId id="271"/>
            <p14:sldId id="261"/>
            <p14:sldId id="262"/>
            <p14:sldId id="263"/>
            <p14:sldId id="264"/>
            <p14:sldId id="265"/>
            <p14:sldId id="281"/>
            <p14:sldId id="272"/>
            <p14:sldId id="284"/>
            <p14:sldId id="274"/>
            <p14:sldId id="277"/>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5033" autoAdjust="0"/>
  </p:normalViewPr>
  <p:slideViewPr>
    <p:cSldViewPr snapToGrid="0">
      <p:cViewPr varScale="1">
        <p:scale>
          <a:sx n="82" d="100"/>
          <a:sy n="82" d="100"/>
        </p:scale>
        <p:origin x="874"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1817EF-BC11-4473-8256-A2B0442A78E9}" type="datetimeFigureOut">
              <a:rPr lang="en-IN" smtClean="0"/>
              <a:t>19-11-2025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26E6D4-68E8-44F1-8F5A-575753324316}" type="slidenum">
              <a:rPr lang="en-IN" smtClean="0"/>
              <a:t>‹#›</a:t>
            </a:fld>
            <a:endParaRPr lang="en-IN"/>
          </a:p>
        </p:txBody>
      </p:sp>
    </p:spTree>
    <p:extLst>
      <p:ext uri="{BB962C8B-B14F-4D97-AF65-F5344CB8AC3E}">
        <p14:creationId xmlns:p14="http://schemas.microsoft.com/office/powerpoint/2010/main" val="1672185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E226E6D4-68E8-44F1-8F5A-575753324316}" type="slidenum">
              <a:rPr lang="en-IN" smtClean="0"/>
              <a:t>1</a:t>
            </a:fld>
            <a:endParaRPr lang="en-IN"/>
          </a:p>
        </p:txBody>
      </p:sp>
    </p:spTree>
    <p:extLst>
      <p:ext uri="{BB962C8B-B14F-4D97-AF65-F5344CB8AC3E}">
        <p14:creationId xmlns:p14="http://schemas.microsoft.com/office/powerpoint/2010/main" val="3158013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226E6D4-68E8-44F1-8F5A-575753324316}" type="slidenum">
              <a:rPr lang="en-IN" smtClean="0"/>
              <a:t>2</a:t>
            </a:fld>
            <a:endParaRPr lang="en-IN"/>
          </a:p>
        </p:txBody>
      </p:sp>
    </p:spTree>
    <p:extLst>
      <p:ext uri="{BB962C8B-B14F-4D97-AF65-F5344CB8AC3E}">
        <p14:creationId xmlns:p14="http://schemas.microsoft.com/office/powerpoint/2010/main" val="1008227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226E6D4-68E8-44F1-8F5A-575753324316}" type="slidenum">
              <a:rPr lang="en-IN" smtClean="0"/>
              <a:t>13</a:t>
            </a:fld>
            <a:endParaRPr lang="en-IN"/>
          </a:p>
        </p:txBody>
      </p:sp>
    </p:spTree>
    <p:extLst>
      <p:ext uri="{BB962C8B-B14F-4D97-AF65-F5344CB8AC3E}">
        <p14:creationId xmlns:p14="http://schemas.microsoft.com/office/powerpoint/2010/main" val="30501029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769879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36213457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583103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D8CFE6E-3F18-4995-BCC1-522D08388943}"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3543868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D8CFE6E-3F18-4995-BCC1-522D08388943}" type="datetimeFigureOut">
              <a:rPr lang="en-IN" smtClean="0"/>
              <a:t>19-11-2025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2879178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D8CFE6E-3F18-4995-BCC1-522D08388943}" type="datetimeFigureOut">
              <a:rPr lang="en-IN" smtClean="0"/>
              <a:t>19-11-2025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250347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D8CFE6E-3F18-4995-BCC1-522D08388943}" type="datetimeFigureOut">
              <a:rPr lang="en-IN" smtClean="0"/>
              <a:t>19-11-2025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887299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8CFE6E-3F18-4995-BCC1-522D08388943}" type="datetimeFigureOut">
              <a:rPr lang="en-IN" smtClean="0"/>
              <a:t>19-11-2025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17541466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C92D118-0DCF-44C3-BA93-5A5DC32F5C10}" type="slidenum">
              <a:rPr lang="en-IN" smtClean="0"/>
              <a:t>‹#›</a:t>
            </a:fld>
            <a:endParaRPr lang="en-IN"/>
          </a:p>
        </p:txBody>
      </p:sp>
      <p:sp>
        <p:nvSpPr>
          <p:cNvPr id="5" name="Date Placeholder 4"/>
          <p:cNvSpPr>
            <a:spLocks noGrp="1"/>
          </p:cNvSpPr>
          <p:nvPr>
            <p:ph type="dt" sz="half" idx="10"/>
          </p:nvPr>
        </p:nvSpPr>
        <p:spPr/>
        <p:txBody>
          <a:bodyPr/>
          <a:lstStyle/>
          <a:p>
            <a:fld id="{DD8CFE6E-3F18-4995-BCC1-522D08388943}" type="datetimeFigureOut">
              <a:rPr lang="en-IN" smtClean="0"/>
              <a:t>19-11-2025</a:t>
            </a:fld>
            <a:endParaRPr lang="en-IN"/>
          </a:p>
        </p:txBody>
      </p:sp>
    </p:spTree>
    <p:extLst>
      <p:ext uri="{BB962C8B-B14F-4D97-AF65-F5344CB8AC3E}">
        <p14:creationId xmlns:p14="http://schemas.microsoft.com/office/powerpoint/2010/main" val="1580501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2980757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4127363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14598216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76234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35624797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42580840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D8CFE6E-3F18-4995-BCC1-522D08388943}" type="datetimeFigureOut">
              <a:rPr lang="en-IN" smtClean="0"/>
              <a:t>19-11-2025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C92D118-0DCF-44C3-BA93-5A5DC32F5C10}" type="slidenum">
              <a:rPr lang="en-IN" smtClean="0"/>
              <a:t>‹#›</a:t>
            </a:fld>
            <a:endParaRPr lang="en-IN"/>
          </a:p>
        </p:txBody>
      </p:sp>
    </p:spTree>
    <p:extLst>
      <p:ext uri="{BB962C8B-B14F-4D97-AF65-F5344CB8AC3E}">
        <p14:creationId xmlns:p14="http://schemas.microsoft.com/office/powerpoint/2010/main" val="310810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D8CFE6E-3F18-4995-BCC1-522D08388943}" type="datetimeFigureOut">
              <a:rPr lang="en-IN" smtClean="0"/>
              <a:t>19-11-2025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C92D118-0DCF-44C3-BA93-5A5DC32F5C10}" type="slidenum">
              <a:rPr lang="en-IN" smtClean="0"/>
              <a:t>‹#›</a:t>
            </a:fld>
            <a:endParaRPr lang="en-IN"/>
          </a:p>
        </p:txBody>
      </p:sp>
    </p:spTree>
    <p:extLst>
      <p:ext uri="{BB962C8B-B14F-4D97-AF65-F5344CB8AC3E}">
        <p14:creationId xmlns:p14="http://schemas.microsoft.com/office/powerpoint/2010/main" val="1794977292"/>
      </p:ext>
    </p:extLst>
  </p:cSld>
  <p:clrMap bg1="lt1" tx1="dk1" bg2="lt2" tx2="dk2" accent1="accent1" accent2="accent2" accent3="accent3" accent4="accent4" accent5="accent5" accent6="accent6" hlink="hlink" folHlink="folHlink"/>
  <p:sldLayoutIdLst>
    <p:sldLayoutId id="2147483856" r:id="rId1"/>
    <p:sldLayoutId id="2147483857" r:id="rId2"/>
    <p:sldLayoutId id="2147483858" r:id="rId3"/>
    <p:sldLayoutId id="2147483859" r:id="rId4"/>
    <p:sldLayoutId id="2147483860" r:id="rId5"/>
    <p:sldLayoutId id="2147483861" r:id="rId6"/>
    <p:sldLayoutId id="2147483862" r:id="rId7"/>
    <p:sldLayoutId id="2147483863" r:id="rId8"/>
    <p:sldLayoutId id="2147483864" r:id="rId9"/>
    <p:sldLayoutId id="2147483865" r:id="rId10"/>
    <p:sldLayoutId id="2147483866" r:id="rId11"/>
    <p:sldLayoutId id="2147483867" r:id="rId12"/>
    <p:sldLayoutId id="2147483868" r:id="rId13"/>
    <p:sldLayoutId id="2147483869" r:id="rId14"/>
    <p:sldLayoutId id="2147483870" r:id="rId15"/>
    <p:sldLayoutId id="214748387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hyperlink" Target="https://iabac.org/blog/types-of-data-analytics-and-their-real-world-application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onesixsolutions.com/insights/customer-churn-predictor/" TargetMode="Externa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s://www.enago.com/academy/research-aims-and-objectives/" TargetMode="External"/><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hyperlink" Target="https://pixabay.com/en/business-plan-tree-growth-grow-2987962/" TargetMode="External"/><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hyperlink" Target="https://www.duperrin.com/english/2021/04/27/improving-a-team-s-work-a-story-of-continuous-improvement/"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pixabay.com/en/meeting-relationship-business-1020144/" TargetMode="External"/><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picpedia.org/chalkboard/t/thank-you.html" TargetMode="External"/><Relationship Id="rId2" Type="http://schemas.openxmlformats.org/officeDocument/2006/relationships/image" Target="../media/image17.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2000"/>
            <a:lum/>
            <a:extLst>
              <a:ext uri="{837473B0-CC2E-450A-ABE3-18F120FF3D39}">
                <a1611:picAttrSrcUrl xmlns:a1611="http://schemas.microsoft.com/office/drawing/2016/11/main" r:id="rId4"/>
              </a:ext>
            </a:extLst>
          </a:blip>
          <a:srcRect/>
          <a:stretch>
            <a:fillRect l="-6000" r="-6000"/>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3C6FB9-B4AC-0C73-E192-1E07BCA4892B}"/>
              </a:ext>
            </a:extLst>
          </p:cNvPr>
          <p:cNvPicPr>
            <a:picLocks noChangeAspect="1"/>
          </p:cNvPicPr>
          <p:nvPr/>
        </p:nvPicPr>
        <p:blipFill>
          <a:blip r:embed="rId5"/>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6DDC1677-4B8D-4EE7-4512-ADC6EDE1BE63}"/>
              </a:ext>
            </a:extLst>
          </p:cNvPr>
          <p:cNvSpPr>
            <a:spLocks noGrp="1"/>
          </p:cNvSpPr>
          <p:nvPr>
            <p:ph type="ctrTitle"/>
          </p:nvPr>
        </p:nvSpPr>
        <p:spPr>
          <a:xfrm>
            <a:off x="1507067" y="24023"/>
            <a:ext cx="8187438" cy="1686245"/>
          </a:xfrm>
        </p:spPr>
        <p:txBody>
          <a:bodyPr/>
          <a:lstStyle/>
          <a:p>
            <a:pPr algn="ctr"/>
            <a:r>
              <a:rPr lang="en-US" dirty="0">
                <a:solidFill>
                  <a:schemeClr val="tx1"/>
                </a:solidFill>
              </a:rPr>
              <a:t>CUSTOMER TRANSACTION ANALYSIS</a:t>
            </a:r>
            <a:endParaRPr lang="en-IN" dirty="0">
              <a:solidFill>
                <a:schemeClr val="tx1"/>
              </a:solidFill>
            </a:endParaRPr>
          </a:p>
        </p:txBody>
      </p:sp>
      <p:sp>
        <p:nvSpPr>
          <p:cNvPr id="3" name="Subtitle 2">
            <a:extLst>
              <a:ext uri="{FF2B5EF4-FFF2-40B4-BE49-F238E27FC236}">
                <a16:creationId xmlns:a16="http://schemas.microsoft.com/office/drawing/2014/main" id="{A413FA95-6C19-D240-F344-060EE5FED77B}"/>
              </a:ext>
            </a:extLst>
          </p:cNvPr>
          <p:cNvSpPr>
            <a:spLocks noGrp="1"/>
          </p:cNvSpPr>
          <p:nvPr>
            <p:ph type="subTitle" idx="1"/>
          </p:nvPr>
        </p:nvSpPr>
        <p:spPr>
          <a:xfrm>
            <a:off x="8137848" y="4917232"/>
            <a:ext cx="3413450" cy="1334277"/>
          </a:xfrm>
        </p:spPr>
        <p:txBody>
          <a:bodyPr>
            <a:noAutofit/>
          </a:bodyPr>
          <a:lstStyle/>
          <a:p>
            <a:pPr algn="l"/>
            <a:r>
              <a:rPr lang="en-US" sz="2400" dirty="0">
                <a:solidFill>
                  <a:schemeClr val="tx1"/>
                </a:solidFill>
              </a:rPr>
              <a:t>PRESENTED BY:</a:t>
            </a:r>
          </a:p>
          <a:p>
            <a:pPr algn="l"/>
            <a:r>
              <a:rPr lang="en-US" sz="2400" dirty="0">
                <a:solidFill>
                  <a:schemeClr val="tx1"/>
                </a:solidFill>
              </a:rPr>
              <a:t>               VISMAYA M</a:t>
            </a:r>
          </a:p>
          <a:p>
            <a:pPr algn="l"/>
            <a:r>
              <a:rPr lang="en-US" sz="2400" dirty="0">
                <a:solidFill>
                  <a:schemeClr val="tx1"/>
                </a:solidFill>
              </a:rPr>
              <a:t>            DATASCIENCE</a:t>
            </a:r>
            <a:endParaRPr lang="en-IN" sz="2400" dirty="0">
              <a:solidFill>
                <a:schemeClr val="tx1"/>
              </a:solidFill>
            </a:endParaRPr>
          </a:p>
        </p:txBody>
      </p:sp>
    </p:spTree>
    <p:extLst>
      <p:ext uri="{BB962C8B-B14F-4D97-AF65-F5344CB8AC3E}">
        <p14:creationId xmlns:p14="http://schemas.microsoft.com/office/powerpoint/2010/main" val="3037002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600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725BD-76F4-47AE-7BF4-23007A243628}"/>
              </a:ext>
            </a:extLst>
          </p:cNvPr>
          <p:cNvSpPr>
            <a:spLocks noGrp="1"/>
          </p:cNvSpPr>
          <p:nvPr>
            <p:ph type="title"/>
          </p:nvPr>
        </p:nvSpPr>
        <p:spPr>
          <a:xfrm>
            <a:off x="856593" y="365125"/>
            <a:ext cx="10515600" cy="1325563"/>
          </a:xfrm>
        </p:spPr>
        <p:txBody>
          <a:bodyPr/>
          <a:lstStyle/>
          <a:p>
            <a:r>
              <a:rPr lang="en-IN" dirty="0">
                <a:solidFill>
                  <a:schemeClr val="tx1"/>
                </a:solidFill>
              </a:rPr>
              <a:t>                    INTRODUCTION</a:t>
            </a:r>
          </a:p>
        </p:txBody>
      </p:sp>
      <p:sp>
        <p:nvSpPr>
          <p:cNvPr id="6" name="Content Placeholder 5">
            <a:extLst>
              <a:ext uri="{FF2B5EF4-FFF2-40B4-BE49-F238E27FC236}">
                <a16:creationId xmlns:a16="http://schemas.microsoft.com/office/drawing/2014/main" id="{8212DD9F-6FFD-7112-F4F8-8CC10DA50EFC}"/>
              </a:ext>
            </a:extLst>
          </p:cNvPr>
          <p:cNvSpPr>
            <a:spLocks noGrp="1"/>
          </p:cNvSpPr>
          <p:nvPr>
            <p:ph idx="1"/>
          </p:nvPr>
        </p:nvSpPr>
        <p:spPr>
          <a:xfrm>
            <a:off x="335901" y="1113111"/>
            <a:ext cx="6721659" cy="5539616"/>
          </a:xfrm>
          <a:blipFill>
            <a:blip r:embed="rId3">
              <a:alphaModFix amt="45000"/>
            </a:blip>
            <a:tile tx="0" ty="0" sx="100000" sy="100000" flip="none" algn="tl"/>
          </a:blipFill>
        </p:spPr>
        <p:txBody>
          <a:bodyPr>
            <a:noAutofit/>
          </a:bodyPr>
          <a:lstStyle/>
          <a:p>
            <a:r>
              <a:rPr lang="en-US" sz="2000" dirty="0"/>
              <a:t>In today’s data-driven business world, analyzing company transactions is crucial for gaining insights into customer purchasing behavior and financial performance.</a:t>
            </a:r>
          </a:p>
          <a:p>
            <a:r>
              <a:rPr lang="en-US" sz="2000" dirty="0"/>
              <a:t>This </a:t>
            </a:r>
            <a:r>
              <a:rPr lang="en-US" sz="2000" dirty="0">
                <a:solidFill>
                  <a:schemeClr val="tx1"/>
                </a:solidFill>
              </a:rPr>
              <a:t>project</a:t>
            </a:r>
            <a:r>
              <a:rPr lang="en-US" sz="2000" dirty="0"/>
              <a:t> focuses on applying </a:t>
            </a:r>
            <a:r>
              <a:rPr lang="en-US" sz="2000" b="1" dirty="0"/>
              <a:t>Data Analysis and Machine Learning techniques</a:t>
            </a:r>
            <a:r>
              <a:rPr lang="en-US" sz="2000" dirty="0"/>
              <a:t> to predict customer patterns and derive meaningful insights from the dataset. Through Exploratory Data Analysis (EDA), data preprocessing, visualization, and model building, the objective is to identify key factors influencing outcomes and improve decision-making accuracy.</a:t>
            </a:r>
          </a:p>
          <a:p>
            <a:r>
              <a:rPr lang="en-US" sz="2000" dirty="0"/>
              <a:t>By developing predictive models, we aim to enhance business strategies, improve customer retention, and support data-driven decisions for better performance.</a:t>
            </a:r>
          </a:p>
        </p:txBody>
      </p:sp>
      <p:pic>
        <p:nvPicPr>
          <p:cNvPr id="9" name="Picture 8">
            <a:extLst>
              <a:ext uri="{FF2B5EF4-FFF2-40B4-BE49-F238E27FC236}">
                <a16:creationId xmlns:a16="http://schemas.microsoft.com/office/drawing/2014/main" id="{AC8566A2-7EB5-9EFA-3F72-CBBA633EFAE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7193129" y="1113111"/>
            <a:ext cx="4771318" cy="5539616"/>
          </a:xfrm>
          <a:prstGeom prst="rect">
            <a:avLst/>
          </a:prstGeom>
        </p:spPr>
      </p:pic>
    </p:spTree>
    <p:extLst>
      <p:ext uri="{BB962C8B-B14F-4D97-AF65-F5344CB8AC3E}">
        <p14:creationId xmlns:p14="http://schemas.microsoft.com/office/powerpoint/2010/main" val="4238118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1F4E0-97F9-7931-DB3C-C0877D43AAE3}"/>
              </a:ext>
            </a:extLst>
          </p:cNvPr>
          <p:cNvSpPr>
            <a:spLocks noGrp="1"/>
          </p:cNvSpPr>
          <p:nvPr>
            <p:ph type="title"/>
          </p:nvPr>
        </p:nvSpPr>
        <p:spPr>
          <a:xfrm>
            <a:off x="1413587" y="361054"/>
            <a:ext cx="5426158" cy="1133061"/>
          </a:xfrm>
        </p:spPr>
        <p:txBody>
          <a:bodyPr>
            <a:normAutofit/>
          </a:bodyPr>
          <a:lstStyle/>
          <a:p>
            <a:r>
              <a:rPr lang="en-IN" sz="3600" b="1" dirty="0">
                <a:solidFill>
                  <a:schemeClr val="tx1"/>
                </a:solidFill>
              </a:rPr>
              <a:t>OBJECTIVE</a:t>
            </a:r>
          </a:p>
        </p:txBody>
      </p:sp>
      <p:pic>
        <p:nvPicPr>
          <p:cNvPr id="6" name="Picture Placeholder 5">
            <a:extLst>
              <a:ext uri="{FF2B5EF4-FFF2-40B4-BE49-F238E27FC236}">
                <a16:creationId xmlns:a16="http://schemas.microsoft.com/office/drawing/2014/main" id="{C20E69ED-8E35-9976-02C6-73AAF3DA34A5}"/>
              </a:ext>
            </a:extLst>
          </p:cNvPr>
          <p:cNvPicPr>
            <a:picLocks noGrp="1" noChangeAspect="1"/>
          </p:cNvPicPr>
          <p:nvPr>
            <p:ph type="pic"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t="668" b="668"/>
          <a:stretch/>
        </p:blipFill>
        <p:spPr>
          <a:xfrm>
            <a:off x="7245626" y="218767"/>
            <a:ext cx="4798891" cy="6420465"/>
          </a:xfrm>
        </p:spPr>
      </p:pic>
      <p:sp>
        <p:nvSpPr>
          <p:cNvPr id="5" name="Rectangle 2">
            <a:extLst>
              <a:ext uri="{FF2B5EF4-FFF2-40B4-BE49-F238E27FC236}">
                <a16:creationId xmlns:a16="http://schemas.microsoft.com/office/drawing/2014/main" id="{09771F57-DD9C-4899-65B0-666469FF9211}"/>
              </a:ext>
            </a:extLst>
          </p:cNvPr>
          <p:cNvSpPr>
            <a:spLocks noGrp="1" noChangeArrowheads="1"/>
          </p:cNvSpPr>
          <p:nvPr>
            <p:ph type="body" sz="half" idx="2"/>
          </p:nvPr>
        </p:nvSpPr>
        <p:spPr bwMode="auto">
          <a:xfrm>
            <a:off x="598802" y="1677542"/>
            <a:ext cx="5853723"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 analyze customer transaction data</a:t>
            </a:r>
            <a:r>
              <a:rPr kumimoji="0" lang="en-US" altLang="en-US" sz="1800" b="0" i="0" u="none" strike="noStrike" cap="none" normalizeH="0" baseline="0" dirty="0">
                <a:ln>
                  <a:noFill/>
                </a:ln>
                <a:solidFill>
                  <a:schemeClr val="tx1"/>
                </a:solidFill>
                <a:effectLst/>
                <a:latin typeface="Arial" panose="020B0604020202020204" pitchFamily="34" charset="0"/>
              </a:rPr>
              <a:t> to understand purchasing patterns, spending behavior, and usage trends.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 identify key factors influencing customer activity</a:t>
            </a:r>
            <a:r>
              <a:rPr kumimoji="0" lang="en-US" altLang="en-US" sz="1800" b="0" i="0" u="none" strike="noStrike" cap="none" normalizeH="0" baseline="0" dirty="0">
                <a:ln>
                  <a:noFill/>
                </a:ln>
                <a:solidFill>
                  <a:schemeClr val="tx1"/>
                </a:solidFill>
                <a:effectLst/>
                <a:latin typeface="Arial" panose="020B0604020202020204" pitchFamily="34" charset="0"/>
              </a:rPr>
              <a:t>, including product preferences, transaction frequency, and demographic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 develop predictive machine learning models</a:t>
            </a:r>
            <a:r>
              <a:rPr kumimoji="0" lang="en-US" altLang="en-US" sz="1800" b="0" i="0" u="none" strike="noStrike" cap="none" normalizeH="0" baseline="0" dirty="0">
                <a:ln>
                  <a:noFill/>
                </a:ln>
                <a:solidFill>
                  <a:schemeClr val="tx1"/>
                </a:solidFill>
                <a:effectLst/>
                <a:latin typeface="Arial" panose="020B0604020202020204" pitchFamily="34" charset="0"/>
              </a:rPr>
              <a:t> to forecast customer behavior such as purchase likelihood, segmentation, or churn probability.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 evaluate model performance</a:t>
            </a:r>
            <a:r>
              <a:rPr kumimoji="0" lang="en-US" altLang="en-US" sz="1800" b="0" i="0" u="none" strike="noStrike" cap="none" normalizeH="0" baseline="0" dirty="0">
                <a:ln>
                  <a:noFill/>
                </a:ln>
                <a:solidFill>
                  <a:schemeClr val="tx1"/>
                </a:solidFill>
                <a:effectLst/>
                <a:latin typeface="Arial" panose="020B0604020202020204" pitchFamily="34" charset="0"/>
              </a:rPr>
              <a:t> using appropriate metrics to ensure reliable and accurate predictions.</a:t>
            </a:r>
          </a:p>
        </p:txBody>
      </p:sp>
    </p:spTree>
    <p:extLst>
      <p:ext uri="{BB962C8B-B14F-4D97-AF65-F5344CB8AC3E}">
        <p14:creationId xmlns:p14="http://schemas.microsoft.com/office/powerpoint/2010/main" val="1970680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46052-6713-C39D-A7E6-A159B5415F74}"/>
              </a:ext>
            </a:extLst>
          </p:cNvPr>
          <p:cNvSpPr>
            <a:spLocks noGrp="1"/>
          </p:cNvSpPr>
          <p:nvPr>
            <p:ph type="title"/>
          </p:nvPr>
        </p:nvSpPr>
        <p:spPr/>
        <p:txBody>
          <a:bodyPr/>
          <a:lstStyle/>
          <a:p>
            <a:r>
              <a:rPr lang="en-IN" dirty="0">
                <a:solidFill>
                  <a:schemeClr val="tx1"/>
                </a:solidFill>
              </a:rPr>
              <a:t>KEY CONCEPTS</a:t>
            </a:r>
          </a:p>
        </p:txBody>
      </p:sp>
      <p:sp>
        <p:nvSpPr>
          <p:cNvPr id="3" name="Content Placeholder 2">
            <a:extLst>
              <a:ext uri="{FF2B5EF4-FFF2-40B4-BE49-F238E27FC236}">
                <a16:creationId xmlns:a16="http://schemas.microsoft.com/office/drawing/2014/main" id="{8CB4F575-1D6C-7037-C666-AC47C164C7C0}"/>
              </a:ext>
            </a:extLst>
          </p:cNvPr>
          <p:cNvSpPr>
            <a:spLocks noGrp="1"/>
          </p:cNvSpPr>
          <p:nvPr>
            <p:ph sz="half" idx="1"/>
          </p:nvPr>
        </p:nvSpPr>
        <p:spPr>
          <a:xfrm>
            <a:off x="732075" y="1581279"/>
            <a:ext cx="4895055" cy="3726426"/>
          </a:xfrm>
        </p:spPr>
        <p:txBody>
          <a:bodyPr>
            <a:normAutofit/>
          </a:bodyPr>
          <a:lstStyle/>
          <a:p>
            <a:pPr marL="0" indent="0">
              <a:buNone/>
            </a:pPr>
            <a:endParaRPr lang="en-US" b="1" dirty="0"/>
          </a:p>
          <a:p>
            <a:endParaRPr lang="en-US" dirty="0"/>
          </a:p>
          <a:p>
            <a:endParaRPr lang="en-US" dirty="0"/>
          </a:p>
          <a:p>
            <a:endParaRPr lang="en-US" dirty="0"/>
          </a:p>
          <a:p>
            <a:endParaRPr lang="en-US" dirty="0"/>
          </a:p>
          <a:p>
            <a:endParaRPr lang="en-US" dirty="0"/>
          </a:p>
          <a:p>
            <a:endParaRPr lang="en-US" dirty="0"/>
          </a:p>
          <a:p>
            <a:endParaRPr lang="en-IN" dirty="0"/>
          </a:p>
        </p:txBody>
      </p:sp>
      <p:sp>
        <p:nvSpPr>
          <p:cNvPr id="4" name="Content Placeholder 3">
            <a:extLst>
              <a:ext uri="{FF2B5EF4-FFF2-40B4-BE49-F238E27FC236}">
                <a16:creationId xmlns:a16="http://schemas.microsoft.com/office/drawing/2014/main" id="{6C4F5DEE-13CA-9301-275C-4E40983BE91C}"/>
              </a:ext>
            </a:extLst>
          </p:cNvPr>
          <p:cNvSpPr>
            <a:spLocks noGrp="1"/>
          </p:cNvSpPr>
          <p:nvPr>
            <p:ph sz="half" idx="2"/>
          </p:nvPr>
        </p:nvSpPr>
        <p:spPr>
          <a:xfrm>
            <a:off x="5886383" y="1550049"/>
            <a:ext cx="4184034" cy="3880773"/>
          </a:xfrm>
        </p:spPr>
        <p:txBody>
          <a:bodyPr>
            <a:normAutofit/>
          </a:bodyPr>
          <a:lstStyle/>
          <a:p>
            <a:endParaRPr lang="en-US" sz="2200" b="1" dirty="0"/>
          </a:p>
          <a:p>
            <a:endParaRPr lang="en-IN" dirty="0"/>
          </a:p>
        </p:txBody>
      </p:sp>
      <p:sp>
        <p:nvSpPr>
          <p:cNvPr id="8" name="Rectangle 4">
            <a:extLst>
              <a:ext uri="{FF2B5EF4-FFF2-40B4-BE49-F238E27FC236}">
                <a16:creationId xmlns:a16="http://schemas.microsoft.com/office/drawing/2014/main" id="{B8CBEB3D-037A-666E-4B3B-8679AEF8649A}"/>
              </a:ext>
            </a:extLst>
          </p:cNvPr>
          <p:cNvSpPr>
            <a:spLocks noChangeArrowheads="1"/>
          </p:cNvSpPr>
          <p:nvPr/>
        </p:nvSpPr>
        <p:spPr bwMode="auto">
          <a:xfrm>
            <a:off x="732075" y="1930400"/>
            <a:ext cx="452239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Customer purchase behavior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Sales and revenue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Product performance insights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Payment mode and frequency trends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Customer segmentation &amp; loyalty tracking</a:t>
            </a:r>
          </a:p>
        </p:txBody>
      </p:sp>
      <p:pic>
        <p:nvPicPr>
          <p:cNvPr id="9" name="Picture 8">
            <a:extLst>
              <a:ext uri="{FF2B5EF4-FFF2-40B4-BE49-F238E27FC236}">
                <a16:creationId xmlns:a16="http://schemas.microsoft.com/office/drawing/2014/main" id="{2BB6AACB-0DD6-DE42-8776-8FEC83871DF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5410820" y="335040"/>
            <a:ext cx="6435527" cy="6187920"/>
          </a:xfrm>
          <a:prstGeom prst="rect">
            <a:avLst/>
          </a:prstGeom>
        </p:spPr>
      </p:pic>
    </p:spTree>
    <p:extLst>
      <p:ext uri="{BB962C8B-B14F-4D97-AF65-F5344CB8AC3E}">
        <p14:creationId xmlns:p14="http://schemas.microsoft.com/office/powerpoint/2010/main" val="2999472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75D6E-2D3F-2551-F005-94404A1A0FDF}"/>
              </a:ext>
            </a:extLst>
          </p:cNvPr>
          <p:cNvSpPr>
            <a:spLocks noGrp="1"/>
          </p:cNvSpPr>
          <p:nvPr>
            <p:ph type="title"/>
          </p:nvPr>
        </p:nvSpPr>
        <p:spPr>
          <a:xfrm>
            <a:off x="1601598" y="78658"/>
            <a:ext cx="10018713" cy="1376855"/>
          </a:xfrm>
        </p:spPr>
        <p:txBody>
          <a:bodyPr/>
          <a:lstStyle/>
          <a:p>
            <a:r>
              <a:rPr lang="en-IN" dirty="0">
                <a:solidFill>
                  <a:schemeClr val="tx1"/>
                </a:solidFill>
              </a:rPr>
              <a:t>DATA COLLECTION</a:t>
            </a:r>
          </a:p>
        </p:txBody>
      </p:sp>
      <p:sp>
        <p:nvSpPr>
          <p:cNvPr id="3" name="Content Placeholder 2">
            <a:extLst>
              <a:ext uri="{FF2B5EF4-FFF2-40B4-BE49-F238E27FC236}">
                <a16:creationId xmlns:a16="http://schemas.microsoft.com/office/drawing/2014/main" id="{C3C7B9C3-AC5C-F154-CC2A-BBF05054325E}"/>
              </a:ext>
            </a:extLst>
          </p:cNvPr>
          <p:cNvSpPr>
            <a:spLocks noGrp="1"/>
          </p:cNvSpPr>
          <p:nvPr>
            <p:ph idx="1"/>
          </p:nvPr>
        </p:nvSpPr>
        <p:spPr>
          <a:xfrm>
            <a:off x="1631455" y="1229711"/>
            <a:ext cx="10018713" cy="5307724"/>
          </a:xfrm>
        </p:spPr>
        <p:txBody>
          <a:bodyPr>
            <a:normAutofit/>
          </a:bodyPr>
          <a:lstStyle/>
          <a:p>
            <a:pPr marL="0" indent="0">
              <a:buNone/>
            </a:pPr>
            <a:r>
              <a:rPr lang="en-IN" sz="2000" dirty="0"/>
              <a:t>Purpose:</a:t>
            </a:r>
          </a:p>
          <a:p>
            <a:pPr marL="0" indent="0">
              <a:buNone/>
            </a:pPr>
            <a:r>
              <a:rPr lang="en-US" sz="2000" dirty="0"/>
              <a:t>The purpose of the topic </a:t>
            </a:r>
            <a:r>
              <a:rPr lang="en-US" sz="2000" i="1" dirty="0"/>
              <a:t>Customer Transaction Analysis</a:t>
            </a:r>
            <a:r>
              <a:rPr lang="en-US" sz="2000" dirty="0"/>
              <a:t> is to analyze customer purchasing patterns, transaction behavior, and revenue insights to support business decision-making and improve sales performance.</a:t>
            </a:r>
            <a:r>
              <a:rPr lang="en-IN" sz="2000" dirty="0"/>
              <a:t>.</a:t>
            </a:r>
          </a:p>
          <a:p>
            <a:pPr marL="0" indent="0">
              <a:buNone/>
            </a:pPr>
            <a:r>
              <a:rPr lang="en-IN" sz="2000" dirty="0"/>
              <a:t>Front End(</a:t>
            </a:r>
            <a:r>
              <a:rPr lang="en-IN" sz="2000" dirty="0" err="1"/>
              <a:t>Gradio</a:t>
            </a:r>
            <a:r>
              <a:rPr lang="en-IN" sz="2000" dirty="0"/>
              <a:t>):</a:t>
            </a:r>
          </a:p>
          <a:p>
            <a:pPr marL="0" indent="0">
              <a:buNone/>
            </a:pPr>
            <a:r>
              <a:rPr lang="en-US" sz="2000" dirty="0"/>
              <a:t>A user-friendly interface allows users to input features like </a:t>
            </a:r>
            <a:r>
              <a:rPr lang="en-US" sz="2000" b="1" dirty="0" err="1"/>
              <a:t>CustomerID</a:t>
            </a:r>
            <a:r>
              <a:rPr lang="en-US" sz="2000" b="1" dirty="0"/>
              <a:t>, Transaction Date, Product Category, Quantity, and Amount</a:t>
            </a:r>
            <a:r>
              <a:rPr lang="en-US" sz="2000" dirty="0"/>
              <a:t> to analyze transaction records and view results easily.</a:t>
            </a:r>
            <a:endParaRPr lang="en-IN" sz="2000" dirty="0"/>
          </a:p>
          <a:p>
            <a:pPr marL="0" indent="0">
              <a:buNone/>
            </a:pPr>
            <a:r>
              <a:rPr lang="en-IN" sz="2000" dirty="0"/>
              <a:t>ML Models Used:</a:t>
            </a:r>
          </a:p>
          <a:p>
            <a:pPr marL="0" indent="0">
              <a:buNone/>
            </a:pPr>
            <a:r>
              <a:rPr lang="en-IN" sz="2000" dirty="0"/>
              <a:t>Logistic Regression</a:t>
            </a:r>
            <a:r>
              <a:rPr lang="en-US" sz="2000" dirty="0"/>
              <a:t>, Random Forest, and </a:t>
            </a:r>
            <a:r>
              <a:rPr lang="en-US" sz="2000" dirty="0" err="1"/>
              <a:t>XGBoost</a:t>
            </a:r>
            <a:r>
              <a:rPr lang="en-US" sz="2000" dirty="0"/>
              <a:t>  models were applied to perform </a:t>
            </a:r>
            <a:r>
              <a:rPr lang="en-US" sz="2000" b="1" dirty="0"/>
              <a:t>customer segmentation, spending prediction, and fraud/anomaly detection</a:t>
            </a:r>
            <a:r>
              <a:rPr lang="en-US" sz="2000" dirty="0"/>
              <a:t>, enabling data-driven decision making.</a:t>
            </a:r>
            <a:endParaRPr lang="en-IN" sz="2000" dirty="0"/>
          </a:p>
        </p:txBody>
      </p:sp>
    </p:spTree>
    <p:extLst>
      <p:ext uri="{BB962C8B-B14F-4D97-AF65-F5344CB8AC3E}">
        <p14:creationId xmlns:p14="http://schemas.microsoft.com/office/powerpoint/2010/main" val="4021560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B5C7-8825-F354-8F89-9D28904BAEFD}"/>
              </a:ext>
            </a:extLst>
          </p:cNvPr>
          <p:cNvSpPr>
            <a:spLocks noGrp="1"/>
          </p:cNvSpPr>
          <p:nvPr>
            <p:ph type="title"/>
          </p:nvPr>
        </p:nvSpPr>
        <p:spPr>
          <a:xfrm>
            <a:off x="1188980" y="502619"/>
            <a:ext cx="10018713" cy="1232453"/>
          </a:xfrm>
        </p:spPr>
        <p:txBody>
          <a:bodyPr/>
          <a:lstStyle/>
          <a:p>
            <a:r>
              <a:rPr lang="en-IN" dirty="0">
                <a:solidFill>
                  <a:schemeClr val="tx1"/>
                </a:solidFill>
              </a:rPr>
              <a:t>PROCESS</a:t>
            </a:r>
            <a:r>
              <a:rPr lang="en-IN" dirty="0"/>
              <a:t> </a:t>
            </a:r>
            <a:r>
              <a:rPr lang="en-IN" dirty="0">
                <a:solidFill>
                  <a:schemeClr val="tx1"/>
                </a:solidFill>
              </a:rPr>
              <a:t>OF DATASET</a:t>
            </a:r>
          </a:p>
        </p:txBody>
      </p:sp>
      <p:sp>
        <p:nvSpPr>
          <p:cNvPr id="3" name="Content Placeholder 2">
            <a:extLst>
              <a:ext uri="{FF2B5EF4-FFF2-40B4-BE49-F238E27FC236}">
                <a16:creationId xmlns:a16="http://schemas.microsoft.com/office/drawing/2014/main" id="{EBAD2CEC-D0C3-8E61-069A-96F6836886F4}"/>
              </a:ext>
            </a:extLst>
          </p:cNvPr>
          <p:cNvSpPr>
            <a:spLocks noGrp="1"/>
          </p:cNvSpPr>
          <p:nvPr>
            <p:ph idx="1"/>
          </p:nvPr>
        </p:nvSpPr>
        <p:spPr>
          <a:xfrm>
            <a:off x="570795" y="1558213"/>
            <a:ext cx="10636898" cy="4049485"/>
          </a:xfrm>
        </p:spPr>
        <p:txBody>
          <a:bodyPr>
            <a:noAutofit/>
          </a:bodyPr>
          <a:lstStyle/>
          <a:p>
            <a:r>
              <a:rPr lang="en-IN" sz="2400" b="1" dirty="0"/>
              <a:t>1. Data Collection</a:t>
            </a:r>
            <a:r>
              <a:rPr lang="en-IN" sz="2400" dirty="0"/>
              <a:t> – Gather customer transaction dataset.</a:t>
            </a:r>
            <a:br>
              <a:rPr lang="en-IN" sz="2400" dirty="0"/>
            </a:br>
            <a:r>
              <a:rPr lang="en-IN" sz="2400" b="1" dirty="0"/>
              <a:t>2. Data Cleaning</a:t>
            </a:r>
            <a:r>
              <a:rPr lang="en-IN" sz="2400" dirty="0"/>
              <a:t> – </a:t>
            </a:r>
            <a:r>
              <a:rPr lang="en-US" sz="2400" dirty="0"/>
              <a:t>Remove missing values, duplicates, and outliers</a:t>
            </a:r>
            <a:r>
              <a:rPr lang="en-IN" sz="2400" dirty="0"/>
              <a:t>.</a:t>
            </a:r>
            <a:br>
              <a:rPr lang="en-IN" sz="2400" dirty="0"/>
            </a:br>
            <a:r>
              <a:rPr lang="en-IN" sz="2400" b="1" dirty="0"/>
              <a:t>3. Data Preprocessing – </a:t>
            </a:r>
            <a:r>
              <a:rPr lang="en-US" sz="2400" dirty="0"/>
              <a:t>Encode categorical features and scale numerical data</a:t>
            </a:r>
            <a:r>
              <a:rPr lang="en-IN" sz="2400" dirty="0"/>
              <a:t>.</a:t>
            </a:r>
            <a:br>
              <a:rPr lang="en-IN" sz="2400" dirty="0"/>
            </a:br>
            <a:r>
              <a:rPr lang="en-IN" sz="2400" b="1" dirty="0"/>
              <a:t>4. Feature Selection</a:t>
            </a:r>
            <a:r>
              <a:rPr lang="en-IN" sz="2400" dirty="0"/>
              <a:t> – </a:t>
            </a:r>
            <a:r>
              <a:rPr lang="en-US" sz="2400" dirty="0"/>
              <a:t>Identify key attributes influencing transaction patterns.</a:t>
            </a:r>
            <a:br>
              <a:rPr lang="en-IN" sz="2400" dirty="0"/>
            </a:br>
            <a:r>
              <a:rPr lang="en-IN" sz="2400" b="1" dirty="0"/>
              <a:t>5. Model Selection</a:t>
            </a:r>
            <a:r>
              <a:rPr lang="en-IN" sz="2400" dirty="0"/>
              <a:t> – Choose ML models(L</a:t>
            </a:r>
            <a:r>
              <a:rPr lang="en-US" sz="2400" dirty="0" err="1"/>
              <a:t>ogistic</a:t>
            </a:r>
            <a:r>
              <a:rPr lang="en-US" sz="2400" dirty="0"/>
              <a:t> Regression, Random Forest, </a:t>
            </a:r>
            <a:r>
              <a:rPr lang="en-US" sz="2400" dirty="0" err="1"/>
              <a:t>XGBoost</a:t>
            </a:r>
            <a:r>
              <a:rPr lang="en-IN" sz="2400" dirty="0"/>
              <a:t>).</a:t>
            </a:r>
            <a:br>
              <a:rPr lang="en-IN" sz="2400" dirty="0"/>
            </a:br>
            <a:r>
              <a:rPr lang="en-IN" sz="2400" b="1" dirty="0"/>
              <a:t>6. Model Training &amp; Evaluation</a:t>
            </a:r>
            <a:r>
              <a:rPr lang="en-IN" sz="2400" dirty="0"/>
              <a:t> –Train models and compare performance metrics.</a:t>
            </a:r>
          </a:p>
        </p:txBody>
      </p:sp>
    </p:spTree>
    <p:extLst>
      <p:ext uri="{BB962C8B-B14F-4D97-AF65-F5344CB8AC3E}">
        <p14:creationId xmlns:p14="http://schemas.microsoft.com/office/powerpoint/2010/main" val="28500382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09554-7352-C6AE-7A36-DBAED303193E}"/>
              </a:ext>
            </a:extLst>
          </p:cNvPr>
          <p:cNvSpPr>
            <a:spLocks noGrp="1"/>
          </p:cNvSpPr>
          <p:nvPr>
            <p:ph type="title"/>
          </p:nvPr>
        </p:nvSpPr>
        <p:spPr>
          <a:xfrm>
            <a:off x="1484311" y="0"/>
            <a:ext cx="10018713" cy="1222513"/>
          </a:xfrm>
        </p:spPr>
        <p:txBody>
          <a:bodyPr/>
          <a:lstStyle/>
          <a:p>
            <a:r>
              <a:rPr lang="en-IN" dirty="0">
                <a:solidFill>
                  <a:schemeClr val="tx1"/>
                </a:solidFill>
              </a:rPr>
              <a:t>DATASET</a:t>
            </a:r>
          </a:p>
        </p:txBody>
      </p:sp>
      <p:pic>
        <p:nvPicPr>
          <p:cNvPr id="4" name="Picture 3">
            <a:extLst>
              <a:ext uri="{FF2B5EF4-FFF2-40B4-BE49-F238E27FC236}">
                <a16:creationId xmlns:a16="http://schemas.microsoft.com/office/drawing/2014/main" id="{61C7B23F-67F3-DFC2-0F9A-445B375BFC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976" y="1048030"/>
            <a:ext cx="9286437" cy="5151600"/>
          </a:xfrm>
          <a:prstGeom prst="rect">
            <a:avLst/>
          </a:prstGeom>
        </p:spPr>
      </p:pic>
    </p:spTree>
    <p:extLst>
      <p:ext uri="{BB962C8B-B14F-4D97-AF65-F5344CB8AC3E}">
        <p14:creationId xmlns:p14="http://schemas.microsoft.com/office/powerpoint/2010/main" val="767287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3F666-CB2F-B51A-7B60-B75D31FD6AEB}"/>
              </a:ext>
            </a:extLst>
          </p:cNvPr>
          <p:cNvSpPr>
            <a:spLocks noGrp="1"/>
          </p:cNvSpPr>
          <p:nvPr>
            <p:ph type="title"/>
          </p:nvPr>
        </p:nvSpPr>
        <p:spPr>
          <a:xfrm>
            <a:off x="2188029" y="130630"/>
            <a:ext cx="9314995" cy="609599"/>
          </a:xfrm>
        </p:spPr>
        <p:txBody>
          <a:bodyPr>
            <a:normAutofit fontScale="90000"/>
          </a:bodyPr>
          <a:lstStyle/>
          <a:p>
            <a:r>
              <a:rPr lang="en-IN" dirty="0">
                <a:solidFill>
                  <a:schemeClr val="tx1"/>
                </a:solidFill>
              </a:rPr>
              <a:t>GRAPHICAL</a:t>
            </a:r>
            <a:r>
              <a:rPr lang="en-IN" dirty="0"/>
              <a:t> </a:t>
            </a:r>
            <a:r>
              <a:rPr lang="en-IN" dirty="0">
                <a:solidFill>
                  <a:schemeClr val="tx1"/>
                </a:solidFill>
              </a:rPr>
              <a:t>OVERVIEW</a:t>
            </a:r>
            <a:br>
              <a:rPr lang="en-IN" dirty="0"/>
            </a:br>
            <a:endParaRPr lang="en-IN" dirty="0"/>
          </a:p>
        </p:txBody>
      </p:sp>
      <p:pic>
        <p:nvPicPr>
          <p:cNvPr id="5" name="Content Placeholder 4">
            <a:extLst>
              <a:ext uri="{FF2B5EF4-FFF2-40B4-BE49-F238E27FC236}">
                <a16:creationId xmlns:a16="http://schemas.microsoft.com/office/drawing/2014/main" id="{2C82A301-D557-CA2F-F2D9-2568524DC35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653531" y="2692230"/>
            <a:ext cx="7411756" cy="3881437"/>
          </a:xfrm>
        </p:spPr>
      </p:pic>
      <p:pic>
        <p:nvPicPr>
          <p:cNvPr id="7" name="Picture 6">
            <a:extLst>
              <a:ext uri="{FF2B5EF4-FFF2-40B4-BE49-F238E27FC236}">
                <a16:creationId xmlns:a16="http://schemas.microsoft.com/office/drawing/2014/main" id="{656A77FF-A938-9E70-A55B-8B19F2C7416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26713" y="582913"/>
            <a:ext cx="4653531" cy="3262561"/>
          </a:xfrm>
          <a:prstGeom prst="rect">
            <a:avLst/>
          </a:prstGeom>
        </p:spPr>
      </p:pic>
    </p:spTree>
    <p:extLst>
      <p:ext uri="{BB962C8B-B14F-4D97-AF65-F5344CB8AC3E}">
        <p14:creationId xmlns:p14="http://schemas.microsoft.com/office/powerpoint/2010/main" val="12366051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DBBDCB7-8F3D-B973-7613-992BB237111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344630" y="459306"/>
            <a:ext cx="9310086" cy="6101267"/>
          </a:xfrm>
        </p:spPr>
      </p:pic>
    </p:spTree>
    <p:extLst>
      <p:ext uri="{BB962C8B-B14F-4D97-AF65-F5344CB8AC3E}">
        <p14:creationId xmlns:p14="http://schemas.microsoft.com/office/powerpoint/2010/main" val="444195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59E33-80DA-3E6E-675B-5D4B8C85E0CB}"/>
              </a:ext>
            </a:extLst>
          </p:cNvPr>
          <p:cNvSpPr>
            <a:spLocks noGrp="1"/>
          </p:cNvSpPr>
          <p:nvPr>
            <p:ph type="title"/>
          </p:nvPr>
        </p:nvSpPr>
        <p:spPr>
          <a:xfrm>
            <a:off x="1484311" y="121921"/>
            <a:ext cx="10018713" cy="1005840"/>
          </a:xfrm>
        </p:spPr>
        <p:txBody>
          <a:bodyPr/>
          <a:lstStyle/>
          <a:p>
            <a:r>
              <a:rPr lang="en-IN" dirty="0">
                <a:solidFill>
                  <a:schemeClr val="tx1"/>
                </a:solidFill>
              </a:rPr>
              <a:t>RESULT OBTAINED</a:t>
            </a:r>
          </a:p>
        </p:txBody>
      </p:sp>
      <p:sp>
        <p:nvSpPr>
          <p:cNvPr id="3" name="Rectangle: Rounded Corners 2">
            <a:extLst>
              <a:ext uri="{FF2B5EF4-FFF2-40B4-BE49-F238E27FC236}">
                <a16:creationId xmlns:a16="http://schemas.microsoft.com/office/drawing/2014/main" id="{461C7D91-C48B-4291-762C-DB33E4D7352B}"/>
              </a:ext>
            </a:extLst>
          </p:cNvPr>
          <p:cNvSpPr/>
          <p:nvPr/>
        </p:nvSpPr>
        <p:spPr>
          <a:xfrm>
            <a:off x="3074481" y="4031801"/>
            <a:ext cx="4919310" cy="27042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Random Forest</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4" name="Rectangle: Rounded Corners 3">
            <a:extLst>
              <a:ext uri="{FF2B5EF4-FFF2-40B4-BE49-F238E27FC236}">
                <a16:creationId xmlns:a16="http://schemas.microsoft.com/office/drawing/2014/main" id="{8C8B5A60-9393-32D8-799B-583CDEB43061}"/>
              </a:ext>
            </a:extLst>
          </p:cNvPr>
          <p:cNvSpPr/>
          <p:nvPr/>
        </p:nvSpPr>
        <p:spPr>
          <a:xfrm>
            <a:off x="5924232" y="1031240"/>
            <a:ext cx="4891580" cy="27836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XG-Boost</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sp>
        <p:nvSpPr>
          <p:cNvPr id="6" name="Rectangle: Rounded Corners 5">
            <a:extLst>
              <a:ext uri="{FF2B5EF4-FFF2-40B4-BE49-F238E27FC236}">
                <a16:creationId xmlns:a16="http://schemas.microsoft.com/office/drawing/2014/main" id="{B0745CDD-691A-D01B-E423-27B9AB5D7200}"/>
              </a:ext>
            </a:extLst>
          </p:cNvPr>
          <p:cNvSpPr/>
          <p:nvPr/>
        </p:nvSpPr>
        <p:spPr>
          <a:xfrm>
            <a:off x="691895" y="1031240"/>
            <a:ext cx="4919310" cy="278367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dirty="0">
                <a:solidFill>
                  <a:schemeClr val="tx1"/>
                </a:solidFill>
              </a:rPr>
              <a:t>Logistic Regression </a:t>
            </a:r>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a:p>
            <a:pPr algn="ctr"/>
            <a:endParaRPr lang="en-IN" dirty="0"/>
          </a:p>
        </p:txBody>
      </p:sp>
      <p:pic>
        <p:nvPicPr>
          <p:cNvPr id="10" name="Picture 9">
            <a:extLst>
              <a:ext uri="{FF2B5EF4-FFF2-40B4-BE49-F238E27FC236}">
                <a16:creationId xmlns:a16="http://schemas.microsoft.com/office/drawing/2014/main" id="{C7174EED-9B59-C396-3654-04FC30E3471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35411" y="1765404"/>
            <a:ext cx="4503092" cy="1845755"/>
          </a:xfrm>
          <a:prstGeom prst="rect">
            <a:avLst/>
          </a:prstGeom>
        </p:spPr>
      </p:pic>
      <p:pic>
        <p:nvPicPr>
          <p:cNvPr id="12" name="Picture 11">
            <a:extLst>
              <a:ext uri="{FF2B5EF4-FFF2-40B4-BE49-F238E27FC236}">
                <a16:creationId xmlns:a16="http://schemas.microsoft.com/office/drawing/2014/main" id="{2EE24A65-C83F-E2EB-47F1-332A2C56F53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95514" y="4724235"/>
            <a:ext cx="4511299" cy="1878373"/>
          </a:xfrm>
          <a:prstGeom prst="rect">
            <a:avLst/>
          </a:prstGeom>
        </p:spPr>
      </p:pic>
      <p:pic>
        <p:nvPicPr>
          <p:cNvPr id="9" name="Picture 8">
            <a:extLst>
              <a:ext uri="{FF2B5EF4-FFF2-40B4-BE49-F238E27FC236}">
                <a16:creationId xmlns:a16="http://schemas.microsoft.com/office/drawing/2014/main" id="{CC7FB1B0-3AC2-1EDD-453F-A81FB897CFD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11762" y="1765405"/>
            <a:ext cx="4674637" cy="1845755"/>
          </a:xfrm>
          <a:prstGeom prst="rect">
            <a:avLst/>
          </a:prstGeom>
        </p:spPr>
      </p:pic>
    </p:spTree>
    <p:extLst>
      <p:ext uri="{BB962C8B-B14F-4D97-AF65-F5344CB8AC3E}">
        <p14:creationId xmlns:p14="http://schemas.microsoft.com/office/powerpoint/2010/main" val="3081588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CDA52-F767-7E32-7AAA-DE94238A326F}"/>
              </a:ext>
            </a:extLst>
          </p:cNvPr>
          <p:cNvSpPr>
            <a:spLocks noGrp="1"/>
          </p:cNvSpPr>
          <p:nvPr>
            <p:ph type="title"/>
          </p:nvPr>
        </p:nvSpPr>
        <p:spPr>
          <a:xfrm>
            <a:off x="688976" y="155865"/>
            <a:ext cx="10018713" cy="1309254"/>
          </a:xfrm>
        </p:spPr>
        <p:txBody>
          <a:bodyPr/>
          <a:lstStyle/>
          <a:p>
            <a:r>
              <a:rPr lang="en-IN" dirty="0">
                <a:solidFill>
                  <a:schemeClr val="tx1"/>
                </a:solidFill>
              </a:rPr>
              <a:t>              COMPARISON</a:t>
            </a:r>
            <a:r>
              <a:rPr lang="en-IN" dirty="0"/>
              <a:t> </a:t>
            </a:r>
            <a:r>
              <a:rPr lang="en-IN" dirty="0">
                <a:solidFill>
                  <a:schemeClr val="tx1"/>
                </a:solidFill>
              </a:rPr>
              <a:t>TABLE</a:t>
            </a:r>
          </a:p>
        </p:txBody>
      </p:sp>
      <p:graphicFrame>
        <p:nvGraphicFramePr>
          <p:cNvPr id="7" name="Table 6">
            <a:extLst>
              <a:ext uri="{FF2B5EF4-FFF2-40B4-BE49-F238E27FC236}">
                <a16:creationId xmlns:a16="http://schemas.microsoft.com/office/drawing/2014/main" id="{25653C8E-15B6-F864-F4B1-9122CADC2DAF}"/>
              </a:ext>
            </a:extLst>
          </p:cNvPr>
          <p:cNvGraphicFramePr>
            <a:graphicFrameLocks noGrp="1"/>
          </p:cNvGraphicFramePr>
          <p:nvPr>
            <p:extLst>
              <p:ext uri="{D42A27DB-BD31-4B8C-83A1-F6EECF244321}">
                <p14:modId xmlns:p14="http://schemas.microsoft.com/office/powerpoint/2010/main" val="3642495959"/>
              </p:ext>
            </p:extLst>
          </p:nvPr>
        </p:nvGraphicFramePr>
        <p:xfrm>
          <a:off x="688976" y="1465119"/>
          <a:ext cx="9742848" cy="3614917"/>
        </p:xfrm>
        <a:graphic>
          <a:graphicData uri="http://schemas.openxmlformats.org/drawingml/2006/table">
            <a:tbl>
              <a:tblPr firstRow="1" bandRow="1">
                <a:tableStyleId>{8EC20E35-A176-4012-BC5E-935CFFF8708E}</a:tableStyleId>
              </a:tblPr>
              <a:tblGrid>
                <a:gridCol w="2172272">
                  <a:extLst>
                    <a:ext uri="{9D8B030D-6E8A-4147-A177-3AD203B41FA5}">
                      <a16:colId xmlns:a16="http://schemas.microsoft.com/office/drawing/2014/main" val="2003393518"/>
                    </a:ext>
                  </a:extLst>
                </a:gridCol>
                <a:gridCol w="1932594">
                  <a:extLst>
                    <a:ext uri="{9D8B030D-6E8A-4147-A177-3AD203B41FA5}">
                      <a16:colId xmlns:a16="http://schemas.microsoft.com/office/drawing/2014/main" val="94193685"/>
                    </a:ext>
                  </a:extLst>
                </a:gridCol>
                <a:gridCol w="1852694">
                  <a:extLst>
                    <a:ext uri="{9D8B030D-6E8A-4147-A177-3AD203B41FA5}">
                      <a16:colId xmlns:a16="http://schemas.microsoft.com/office/drawing/2014/main" val="1684210507"/>
                    </a:ext>
                  </a:extLst>
                </a:gridCol>
                <a:gridCol w="1892644">
                  <a:extLst>
                    <a:ext uri="{9D8B030D-6E8A-4147-A177-3AD203B41FA5}">
                      <a16:colId xmlns:a16="http://schemas.microsoft.com/office/drawing/2014/main" val="433106844"/>
                    </a:ext>
                  </a:extLst>
                </a:gridCol>
                <a:gridCol w="1892644">
                  <a:extLst>
                    <a:ext uri="{9D8B030D-6E8A-4147-A177-3AD203B41FA5}">
                      <a16:colId xmlns:a16="http://schemas.microsoft.com/office/drawing/2014/main" val="3186527187"/>
                    </a:ext>
                  </a:extLst>
                </a:gridCol>
              </a:tblGrid>
              <a:tr h="758514">
                <a:tc>
                  <a:txBody>
                    <a:bodyPr/>
                    <a:lstStyle/>
                    <a:p>
                      <a:r>
                        <a:rPr lang="en-IN" dirty="0"/>
                        <a:t>MODELS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ACCURACY</a:t>
                      </a:r>
                    </a:p>
                    <a:p>
                      <a:endParaRPr lang="en-IN" dirty="0"/>
                    </a:p>
                  </a:txBody>
                  <a:tcPr/>
                </a:tc>
                <a:tc>
                  <a:txBody>
                    <a:bodyPr/>
                    <a:lstStyle/>
                    <a:p>
                      <a:r>
                        <a:rPr lang="en-IN" dirty="0"/>
                        <a:t>PRECISION</a:t>
                      </a:r>
                    </a:p>
                  </a:txBody>
                  <a:tcPr/>
                </a:tc>
                <a:tc>
                  <a:txBody>
                    <a:bodyPr/>
                    <a:lstStyle/>
                    <a:p>
                      <a:r>
                        <a:rPr lang="en-IN" dirty="0"/>
                        <a:t>RECALL</a:t>
                      </a:r>
                    </a:p>
                  </a:txBody>
                  <a:tcPr/>
                </a:tc>
                <a:tc>
                  <a:txBody>
                    <a:bodyPr/>
                    <a:lstStyle/>
                    <a:p>
                      <a:r>
                        <a:rPr lang="en-IN" dirty="0"/>
                        <a:t>FI SCORE</a:t>
                      </a:r>
                    </a:p>
                  </a:txBody>
                  <a:tcPr/>
                </a:tc>
                <a:extLst>
                  <a:ext uri="{0D108BD9-81ED-4DB2-BD59-A6C34878D82A}">
                    <a16:rowId xmlns:a16="http://schemas.microsoft.com/office/drawing/2014/main" val="2948743030"/>
                  </a:ext>
                </a:extLst>
              </a:tr>
              <a:tr h="8118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Logistic Regression</a:t>
                      </a:r>
                    </a:p>
                    <a:p>
                      <a:endParaRPr lang="en-IN" dirty="0"/>
                    </a:p>
                    <a:p>
                      <a:endParaRPr lang="en-IN" dirty="0"/>
                    </a:p>
                  </a:txBody>
                  <a:tcPr/>
                </a:tc>
                <a:tc>
                  <a:txBody>
                    <a:bodyPr/>
                    <a:lstStyle/>
                    <a:p>
                      <a:pPr latinLnBrk="1"/>
                      <a:r>
                        <a:rPr lang="en-IN" sz="1800" b="0" i="0" kern="1200" dirty="0">
                          <a:solidFill>
                            <a:schemeClr val="dk1"/>
                          </a:solidFill>
                          <a:effectLst/>
                          <a:latin typeface="+mn-lt"/>
                          <a:ea typeface="+mn-ea"/>
                          <a:cs typeface="+mn-cs"/>
                        </a:rPr>
                        <a:t> 0.89</a:t>
                      </a:r>
                    </a:p>
                  </a:txBody>
                  <a:tcPr/>
                </a:tc>
                <a:tc>
                  <a:txBody>
                    <a:bodyPr/>
                    <a:lstStyle/>
                    <a:p>
                      <a:pPr latinLnBrk="1"/>
                      <a:r>
                        <a:rPr lang="en-IN" sz="1800" b="0" i="0" kern="1200" dirty="0">
                          <a:solidFill>
                            <a:schemeClr val="dk1"/>
                          </a:solidFill>
                          <a:effectLst/>
                          <a:latin typeface="+mn-lt"/>
                          <a:ea typeface="+mn-ea"/>
                          <a:cs typeface="+mn-cs"/>
                        </a:rPr>
                        <a:t>0.90</a:t>
                      </a:r>
                    </a:p>
                  </a:txBody>
                  <a:tcPr/>
                </a:tc>
                <a:tc>
                  <a:txBody>
                    <a:bodyPr/>
                    <a:lstStyle/>
                    <a:p>
                      <a:pPr latinLnBrk="1"/>
                      <a:r>
                        <a:rPr lang="en-IN" sz="1800" b="0" i="0" kern="1200" dirty="0">
                          <a:solidFill>
                            <a:schemeClr val="dk1"/>
                          </a:solidFill>
                          <a:effectLst/>
                          <a:latin typeface="+mn-lt"/>
                          <a:ea typeface="+mn-ea"/>
                          <a:cs typeface="+mn-cs"/>
                        </a:rPr>
                        <a:t>0.99</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mn-lt"/>
                          <a:ea typeface="+mn-ea"/>
                          <a:cs typeface="+mn-cs"/>
                        </a:rPr>
                        <a:t>0.94</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800" b="0" i="0" kern="1200" dirty="0">
                        <a:solidFill>
                          <a:schemeClr val="dk1"/>
                        </a:solidFill>
                        <a:effectLst/>
                        <a:latin typeface="+mn-lt"/>
                        <a:ea typeface="+mn-ea"/>
                        <a:cs typeface="+mn-cs"/>
                      </a:endParaRPr>
                    </a:p>
                    <a:p>
                      <a:endParaRPr lang="en-IN" dirty="0"/>
                    </a:p>
                  </a:txBody>
                  <a:tcPr/>
                </a:tc>
                <a:extLst>
                  <a:ext uri="{0D108BD9-81ED-4DB2-BD59-A6C34878D82A}">
                    <a16:rowId xmlns:a16="http://schemas.microsoft.com/office/drawing/2014/main" val="1256999141"/>
                  </a:ext>
                </a:extLst>
              </a:tr>
              <a:tr h="78537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Random Forest</a:t>
                      </a:r>
                    </a:p>
                    <a:p>
                      <a:endParaRPr lang="en-IN" dirty="0"/>
                    </a:p>
                  </a:txBody>
                  <a:tcPr/>
                </a:tc>
                <a:tc>
                  <a:txBody>
                    <a:bodyPr/>
                    <a:lstStyle/>
                    <a:p>
                      <a:pPr latinLnBrk="1"/>
                      <a:r>
                        <a:rPr lang="en-IN" sz="1800" b="0" i="0" kern="1200" dirty="0">
                          <a:solidFill>
                            <a:schemeClr val="dk1"/>
                          </a:solidFill>
                          <a:effectLst/>
                          <a:latin typeface="+mn-lt"/>
                          <a:ea typeface="+mn-ea"/>
                          <a:cs typeface="+mn-cs"/>
                        </a:rPr>
                        <a:t>0.885</a:t>
                      </a:r>
                    </a:p>
                    <a:p>
                      <a:pPr latinLnBrk="1"/>
                      <a:endParaRPr lang="en-IN" sz="1800" b="0" i="0" kern="1200" dirty="0">
                        <a:solidFill>
                          <a:schemeClr val="dk1"/>
                        </a:solidFill>
                        <a:effectLst/>
                        <a:latin typeface="+mn-lt"/>
                        <a:ea typeface="+mn-ea"/>
                        <a:cs typeface="+mn-cs"/>
                      </a:endParaRPr>
                    </a:p>
                  </a:txBody>
                  <a:tcPr/>
                </a:tc>
                <a:tc>
                  <a:txBody>
                    <a:bodyPr/>
                    <a:lstStyle/>
                    <a:p>
                      <a:pPr latinLnBrk="1"/>
                      <a:r>
                        <a:rPr lang="en-IN" sz="1800" b="0" i="0" kern="1200" dirty="0">
                          <a:solidFill>
                            <a:schemeClr val="dk1"/>
                          </a:solidFill>
                          <a:effectLst/>
                          <a:latin typeface="+mn-lt"/>
                          <a:ea typeface="+mn-ea"/>
                          <a:cs typeface="+mn-cs"/>
                        </a:rPr>
                        <a:t> 0.89</a:t>
                      </a: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IN" sz="1800" b="0" i="0" kern="1200" dirty="0">
                          <a:solidFill>
                            <a:schemeClr val="dk1"/>
                          </a:solidFill>
                          <a:effectLst/>
                          <a:latin typeface="+mn-lt"/>
                          <a:ea typeface="+mn-ea"/>
                          <a:cs typeface="+mn-cs"/>
                        </a:rPr>
                        <a:t>0.99</a:t>
                      </a:r>
                    </a:p>
                    <a:p>
                      <a:pPr latinLnBrk="1"/>
                      <a:endParaRPr lang="en-IN" sz="1800" b="0" i="0" kern="1200" dirty="0">
                        <a:solidFill>
                          <a:schemeClr val="dk1"/>
                        </a:solidFill>
                        <a:effectLst/>
                        <a:latin typeface="+mn-lt"/>
                        <a:ea typeface="+mn-ea"/>
                        <a:cs typeface="+mn-cs"/>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800" b="0" i="0" kern="1200" dirty="0">
                          <a:solidFill>
                            <a:schemeClr val="dk1"/>
                          </a:solidFill>
                          <a:effectLst/>
                          <a:latin typeface="+mn-lt"/>
                          <a:ea typeface="+mn-ea"/>
                          <a:cs typeface="+mn-cs"/>
                        </a:rPr>
                        <a:t>0.94</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IN" sz="1800" b="0" i="0" kern="1200" dirty="0">
                        <a:solidFill>
                          <a:schemeClr val="dk1"/>
                        </a:solidFill>
                        <a:effectLst/>
                        <a:latin typeface="+mn-lt"/>
                        <a:ea typeface="+mn-ea"/>
                        <a:cs typeface="+mn-cs"/>
                      </a:endParaRPr>
                    </a:p>
                    <a:p>
                      <a:endParaRPr lang="en-IN" dirty="0"/>
                    </a:p>
                  </a:txBody>
                  <a:tcPr/>
                </a:tc>
                <a:extLst>
                  <a:ext uri="{0D108BD9-81ED-4DB2-BD59-A6C34878D82A}">
                    <a16:rowId xmlns:a16="http://schemas.microsoft.com/office/drawing/2014/main" val="3712933505"/>
                  </a:ext>
                </a:extLst>
              </a:tr>
              <a:tr h="1027603">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XG-Boost</a:t>
                      </a:r>
                    </a:p>
                    <a:p>
                      <a:endParaRPr lang="en-IN" dirty="0"/>
                    </a:p>
                  </a:txBody>
                  <a:tcPr/>
                </a:tc>
                <a:tc>
                  <a:txBody>
                    <a:bodyPr/>
                    <a:lstStyle/>
                    <a:p>
                      <a:pPr latinLnBrk="1"/>
                      <a:r>
                        <a:rPr lang="en-IN" sz="1800" b="0" i="0" kern="1200" dirty="0">
                          <a:solidFill>
                            <a:schemeClr val="dk1"/>
                          </a:solidFill>
                          <a:effectLst/>
                          <a:latin typeface="+mn-lt"/>
                          <a:ea typeface="+mn-ea"/>
                          <a:cs typeface="+mn-cs"/>
                        </a:rPr>
                        <a:t>0.887</a:t>
                      </a:r>
                    </a:p>
                    <a:p>
                      <a:br>
                        <a:rPr lang="en-IN" dirty="0"/>
                      </a:br>
                      <a:endParaRPr lang="en-IN" sz="1800" b="0" i="0" kern="1200" dirty="0">
                        <a:solidFill>
                          <a:schemeClr val="dk1"/>
                        </a:solidFill>
                        <a:effectLst/>
                        <a:latin typeface="+mn-lt"/>
                        <a:ea typeface="+mn-ea"/>
                        <a:cs typeface="+mn-cs"/>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IN" sz="1800" b="0" i="0" kern="1200" dirty="0">
                          <a:solidFill>
                            <a:schemeClr val="dk1"/>
                          </a:solidFill>
                          <a:effectLst/>
                          <a:latin typeface="+mn-lt"/>
                          <a:ea typeface="+mn-ea"/>
                          <a:cs typeface="+mn-cs"/>
                        </a:rPr>
                        <a:t>0.89</a:t>
                      </a:r>
                    </a:p>
                    <a:p>
                      <a:pPr latinLnBrk="1"/>
                      <a:endParaRPr lang="en-IN" sz="1800" b="0" i="0" kern="1200" dirty="0">
                        <a:solidFill>
                          <a:schemeClr val="dk1"/>
                        </a:solidFill>
                        <a:effectLst/>
                        <a:latin typeface="+mn-lt"/>
                        <a:ea typeface="+mn-ea"/>
                        <a:cs typeface="+mn-cs"/>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IN" sz="1800" b="0" i="0" kern="1200" dirty="0">
                          <a:solidFill>
                            <a:schemeClr val="dk1"/>
                          </a:solidFill>
                          <a:effectLst/>
                          <a:latin typeface="+mn-lt"/>
                          <a:ea typeface="+mn-ea"/>
                          <a:cs typeface="+mn-cs"/>
                        </a:rPr>
                        <a:t>0.99  </a:t>
                      </a:r>
                    </a:p>
                    <a:p>
                      <a:pPr latinLnBrk="1"/>
                      <a:endParaRPr lang="en-IN" sz="1800" b="0" i="0" kern="1200" dirty="0">
                        <a:solidFill>
                          <a:schemeClr val="dk1"/>
                        </a:solidFill>
                        <a:effectLst/>
                        <a:latin typeface="+mn-lt"/>
                        <a:ea typeface="+mn-ea"/>
                        <a:cs typeface="+mn-cs"/>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IN" sz="1800" b="0" i="0" kern="1200" dirty="0">
                          <a:solidFill>
                            <a:schemeClr val="dk1"/>
                          </a:solidFill>
                          <a:effectLst/>
                          <a:latin typeface="+mn-lt"/>
                          <a:ea typeface="+mn-ea"/>
                          <a:cs typeface="+mn-cs"/>
                        </a:rPr>
                        <a:t>0.94</a:t>
                      </a:r>
                    </a:p>
                    <a:p>
                      <a:pPr latinLnBrk="1"/>
                      <a:endParaRPr lang="en-IN" sz="1800" b="0" i="0" kern="1200" dirty="0">
                        <a:solidFill>
                          <a:schemeClr val="dk1"/>
                        </a:solidFill>
                        <a:effectLst/>
                        <a:latin typeface="+mn-lt"/>
                        <a:ea typeface="+mn-ea"/>
                        <a:cs typeface="+mn-cs"/>
                      </a:endParaRPr>
                    </a:p>
                  </a:txBody>
                  <a:tcPr/>
                </a:tc>
                <a:extLst>
                  <a:ext uri="{0D108BD9-81ED-4DB2-BD59-A6C34878D82A}">
                    <a16:rowId xmlns:a16="http://schemas.microsoft.com/office/drawing/2014/main" val="307145190"/>
                  </a:ext>
                </a:extLst>
              </a:tr>
            </a:tbl>
          </a:graphicData>
        </a:graphic>
      </p:graphicFrame>
    </p:spTree>
    <p:extLst>
      <p:ext uri="{BB962C8B-B14F-4D97-AF65-F5344CB8AC3E}">
        <p14:creationId xmlns:p14="http://schemas.microsoft.com/office/powerpoint/2010/main" val="12483154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3790-EDBC-1A56-ED7E-A3B5029C6F51}"/>
              </a:ext>
            </a:extLst>
          </p:cNvPr>
          <p:cNvSpPr>
            <a:spLocks noGrp="1"/>
          </p:cNvSpPr>
          <p:nvPr>
            <p:ph type="title"/>
          </p:nvPr>
        </p:nvSpPr>
        <p:spPr>
          <a:xfrm>
            <a:off x="1981200" y="71120"/>
            <a:ext cx="9521824" cy="1076961"/>
          </a:xfrm>
        </p:spPr>
        <p:txBody>
          <a:bodyPr>
            <a:normAutofit/>
          </a:bodyPr>
          <a:lstStyle/>
          <a:p>
            <a:r>
              <a:rPr lang="en-IN" dirty="0">
                <a:solidFill>
                  <a:schemeClr val="tx1"/>
                </a:solidFill>
              </a:rPr>
              <a:t>USER INTERFACE</a:t>
            </a:r>
          </a:p>
        </p:txBody>
      </p:sp>
      <p:pic>
        <p:nvPicPr>
          <p:cNvPr id="5" name="Picture 4">
            <a:extLst>
              <a:ext uri="{FF2B5EF4-FFF2-40B4-BE49-F238E27FC236}">
                <a16:creationId xmlns:a16="http://schemas.microsoft.com/office/drawing/2014/main" id="{A50ABC09-C644-7701-83E9-E433257B6FF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81522" y="1100512"/>
            <a:ext cx="9846944" cy="4881325"/>
          </a:xfrm>
          <a:prstGeom prst="rect">
            <a:avLst/>
          </a:prstGeom>
        </p:spPr>
      </p:pic>
    </p:spTree>
    <p:extLst>
      <p:ext uri="{BB962C8B-B14F-4D97-AF65-F5344CB8AC3E}">
        <p14:creationId xmlns:p14="http://schemas.microsoft.com/office/powerpoint/2010/main" val="31633495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8425C-2D61-BF69-6867-F024C26778D3}"/>
              </a:ext>
            </a:extLst>
          </p:cNvPr>
          <p:cNvSpPr>
            <a:spLocks noGrp="1"/>
          </p:cNvSpPr>
          <p:nvPr>
            <p:ph type="title"/>
          </p:nvPr>
        </p:nvSpPr>
        <p:spPr>
          <a:xfrm>
            <a:off x="1466459" y="93518"/>
            <a:ext cx="3549121" cy="1205346"/>
          </a:xfrm>
        </p:spPr>
        <p:txBody>
          <a:bodyPr>
            <a:noAutofit/>
          </a:bodyPr>
          <a:lstStyle/>
          <a:p>
            <a:r>
              <a:rPr lang="en-IN" sz="3200" b="1" dirty="0">
                <a:solidFill>
                  <a:schemeClr val="tx1"/>
                </a:solidFill>
              </a:rPr>
              <a:t>FUTURE IMPROVEMENTS </a:t>
            </a:r>
          </a:p>
        </p:txBody>
      </p:sp>
      <p:pic>
        <p:nvPicPr>
          <p:cNvPr id="6" name="Content Placeholder 5">
            <a:extLst>
              <a:ext uri="{FF2B5EF4-FFF2-40B4-BE49-F238E27FC236}">
                <a16:creationId xmlns:a16="http://schemas.microsoft.com/office/drawing/2014/main" id="{E80895DD-5C2B-4DC4-9D44-2B124F252D15}"/>
              </a:ext>
            </a:extLst>
          </p:cNvPr>
          <p:cNvPicPr>
            <a:picLocks noGrp="1" noChangeAspect="1"/>
          </p:cNvPicPr>
          <p:nvPr>
            <p:ph idx="1"/>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a:stretch/>
        </p:blipFill>
        <p:spPr>
          <a:xfrm>
            <a:off x="7159983" y="216310"/>
            <a:ext cx="4766545" cy="6420464"/>
          </a:xfrm>
        </p:spPr>
      </p:pic>
      <p:sp>
        <p:nvSpPr>
          <p:cNvPr id="3" name="Rectangle 1">
            <a:extLst>
              <a:ext uri="{FF2B5EF4-FFF2-40B4-BE49-F238E27FC236}">
                <a16:creationId xmlns:a16="http://schemas.microsoft.com/office/drawing/2014/main" id="{33E2754B-9A72-90C0-43C3-28EE15D736DD}"/>
              </a:ext>
            </a:extLst>
          </p:cNvPr>
          <p:cNvSpPr>
            <a:spLocks noGrp="1" noChangeArrowheads="1"/>
          </p:cNvSpPr>
          <p:nvPr>
            <p:ph type="body" sz="half" idx="2"/>
          </p:nvPr>
        </p:nvSpPr>
        <p:spPr bwMode="auto">
          <a:xfrm>
            <a:off x="1120775" y="1575862"/>
            <a:ext cx="551599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Integrating Real-Time Transaction Monitoring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Enable live tracking of customer purchases to detect unusual activity instantly and improve fraud prevention.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solidFill>
                  <a:schemeClr val="tx1"/>
                </a:solidFill>
                <a:latin typeface="Arial" panose="020B0604020202020204" pitchFamily="34" charset="0"/>
              </a:rPr>
              <a:t>Better Product </a:t>
            </a:r>
            <a:r>
              <a:rPr kumimoji="0" lang="en-US" altLang="en-US" sz="1800" b="1" i="0" u="none" strike="noStrike" cap="none" normalizeH="0" baseline="0" dirty="0">
                <a:ln>
                  <a:noFill/>
                </a:ln>
                <a:solidFill>
                  <a:schemeClr val="tx1"/>
                </a:solidFill>
                <a:effectLst/>
                <a:latin typeface="Arial" panose="020B0604020202020204" pitchFamily="34" charset="0"/>
              </a:rPr>
              <a:t>Recommendation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Build recommendation models to suggest products based on customer purchase history, improving customer satisfaction and sales.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Advanced Customer Segmentation using Deep Learning</a:t>
            </a:r>
            <a:br>
              <a:rPr kumimoji="0" lang="en-US" altLang="en-US" sz="1800" b="0" i="0" u="none" strike="noStrike" cap="none" normalizeH="0" baseline="0" dirty="0">
                <a:ln>
                  <a:noFill/>
                </a:ln>
                <a:solidFill>
                  <a:schemeClr val="tx1"/>
                </a:solidFill>
                <a:effectLst/>
                <a:latin typeface="Arial" panose="020B0604020202020204" pitchFamily="34" charset="0"/>
              </a:rPr>
            </a:br>
            <a:r>
              <a:rPr lang="en-US" altLang="en-US" sz="1800" dirty="0">
                <a:solidFill>
                  <a:schemeClr val="tx1"/>
                </a:solidFill>
                <a:latin typeface="Arial" panose="020B0604020202020204" pitchFamily="34" charset="0"/>
              </a:rPr>
              <a:t>Use advanced neural networks to group customers more accurately based on their behavior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Interactive Business Dashboard</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Create a live dashboard that shows sales revenue trends and customer activity for faster decision-making.</a:t>
            </a:r>
          </a:p>
        </p:txBody>
      </p:sp>
    </p:spTree>
    <p:extLst>
      <p:ext uri="{BB962C8B-B14F-4D97-AF65-F5344CB8AC3E}">
        <p14:creationId xmlns:p14="http://schemas.microsoft.com/office/powerpoint/2010/main" val="4063027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CA2B8C-5DDE-B16A-24F5-CF66334A1F50}"/>
              </a:ext>
            </a:extLst>
          </p:cNvPr>
          <p:cNvSpPr>
            <a:spLocks noGrp="1"/>
          </p:cNvSpPr>
          <p:nvPr>
            <p:ph type="title"/>
          </p:nvPr>
        </p:nvSpPr>
        <p:spPr>
          <a:xfrm>
            <a:off x="1216961" y="95865"/>
            <a:ext cx="5569631" cy="947057"/>
          </a:xfrm>
        </p:spPr>
        <p:txBody>
          <a:bodyPr/>
          <a:lstStyle/>
          <a:p>
            <a:r>
              <a:rPr lang="en-IN" dirty="0">
                <a:solidFill>
                  <a:schemeClr val="tx1"/>
                </a:solidFill>
              </a:rPr>
              <a:t>CONCLUSION</a:t>
            </a:r>
          </a:p>
        </p:txBody>
      </p:sp>
      <p:pic>
        <p:nvPicPr>
          <p:cNvPr id="10" name="Content Placeholder 9">
            <a:extLst>
              <a:ext uri="{FF2B5EF4-FFF2-40B4-BE49-F238E27FC236}">
                <a16:creationId xmlns:a16="http://schemas.microsoft.com/office/drawing/2014/main" id="{7CF74A86-BC14-CF7F-DD33-49FCE80F4667}"/>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a:stretch/>
        </p:blipFill>
        <p:spPr>
          <a:xfrm>
            <a:off x="7478486" y="109104"/>
            <a:ext cx="4520045" cy="6639791"/>
          </a:xfrm>
        </p:spPr>
      </p:pic>
      <p:sp>
        <p:nvSpPr>
          <p:cNvPr id="12" name="TextBox 11">
            <a:extLst>
              <a:ext uri="{FF2B5EF4-FFF2-40B4-BE49-F238E27FC236}">
                <a16:creationId xmlns:a16="http://schemas.microsoft.com/office/drawing/2014/main" id="{1FFA1F77-1021-5659-DE41-B660F2B32A23}"/>
              </a:ext>
            </a:extLst>
          </p:cNvPr>
          <p:cNvSpPr txBox="1"/>
          <p:nvPr/>
        </p:nvSpPr>
        <p:spPr>
          <a:xfrm>
            <a:off x="193469" y="906614"/>
            <a:ext cx="7187045" cy="5680798"/>
          </a:xfrm>
          <a:prstGeom prst="rect">
            <a:avLst/>
          </a:prstGeom>
          <a:noFill/>
        </p:spPr>
        <p:txBody>
          <a:bodyPr wrap="square">
            <a:spAutoFit/>
          </a:bodyPr>
          <a:lstStyle/>
          <a:p>
            <a:r>
              <a:rPr lang="en-US" sz="2400" dirty="0"/>
              <a:t>The </a:t>
            </a:r>
            <a:r>
              <a:rPr lang="en-US" sz="2400" b="1" dirty="0"/>
              <a:t>Customer Transaction Analysis</a:t>
            </a:r>
            <a:r>
              <a:rPr lang="en-US" sz="2400" dirty="0"/>
              <a:t> project highlights the importance of leveraging transaction data to understand customer purchasing patterns, spending behavior, and overall business performance.</a:t>
            </a:r>
          </a:p>
          <a:p>
            <a:endParaRPr lang="en-US" sz="2400" dirty="0"/>
          </a:p>
          <a:p>
            <a:r>
              <a:rPr lang="en-US" sz="2400" dirty="0"/>
              <a:t>Through machine learning models such as </a:t>
            </a:r>
            <a:r>
              <a:rPr lang="en-US" sz="2400" b="1" dirty="0"/>
              <a:t>Logistic Regression, Random Forest, and </a:t>
            </a:r>
            <a:r>
              <a:rPr lang="en-US" sz="2400" b="1" dirty="0" err="1"/>
              <a:t>XGBoost</a:t>
            </a:r>
            <a:r>
              <a:rPr lang="en-US" sz="2400" dirty="0"/>
              <a:t>, the project successfully predicts customer behavior and potential churn, demonstrating strong accuracy and reliable forecasting. These insights enable companies to take proactive decisions, improve customer retention, optimize product offerings, and maximize revenue growth.</a:t>
            </a:r>
          </a:p>
          <a:p>
            <a:endParaRPr lang="en-IN" sz="2400" dirty="0"/>
          </a:p>
        </p:txBody>
      </p:sp>
    </p:spTree>
    <p:extLst>
      <p:ext uri="{BB962C8B-B14F-4D97-AF65-F5344CB8AC3E}">
        <p14:creationId xmlns:p14="http://schemas.microsoft.com/office/powerpoint/2010/main" val="3968350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2C8C1-72E6-08E2-DA15-D2B0A9D9C528}"/>
              </a:ext>
            </a:extLst>
          </p:cNvPr>
          <p:cNvSpPr>
            <a:spLocks noGrp="1"/>
          </p:cNvSpPr>
          <p:nvPr>
            <p:ph type="title"/>
          </p:nvPr>
        </p:nvSpPr>
        <p:spPr>
          <a:xfrm>
            <a:off x="2423650" y="117636"/>
            <a:ext cx="6907163" cy="174066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a:bodyPr>
          <a:lstStyle/>
          <a:p>
            <a:r>
              <a:rPr lang="en-IN" sz="9600" dirty="0">
                <a:solidFill>
                  <a:schemeClr val="tx1"/>
                </a:solidFill>
              </a:rPr>
              <a:t>THANK YOU</a:t>
            </a:r>
          </a:p>
        </p:txBody>
      </p:sp>
      <p:pic>
        <p:nvPicPr>
          <p:cNvPr id="4" name="Picture 3">
            <a:extLst>
              <a:ext uri="{FF2B5EF4-FFF2-40B4-BE49-F238E27FC236}">
                <a16:creationId xmlns:a16="http://schemas.microsoft.com/office/drawing/2014/main" id="{65B5E267-632D-CF7B-E6A3-CA6FDF4F10CA}"/>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0" y="-22123"/>
            <a:ext cx="12192000" cy="6902245"/>
          </a:xfrm>
          <a:prstGeom prst="rect">
            <a:avLst/>
          </a:prstGeom>
        </p:spPr>
      </p:pic>
    </p:spTree>
    <p:extLst>
      <p:ext uri="{BB962C8B-B14F-4D97-AF65-F5344CB8AC3E}">
        <p14:creationId xmlns:p14="http://schemas.microsoft.com/office/powerpoint/2010/main" val="1029741107"/>
      </p:ext>
    </p:extLst>
  </p:cSld>
  <p:clrMapOvr>
    <a:masterClrMapping/>
  </p:clrMapOvr>
</p:sld>
</file>

<file path=ppt/theme/theme1.xml><?xml version="1.0" encoding="utf-8"?>
<a:theme xmlns:a="http://schemas.openxmlformats.org/drawingml/2006/main" name="Facet">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1413</TotalTime>
  <Words>612</Words>
  <Application>Microsoft Office PowerPoint</Application>
  <PresentationFormat>Widescreen</PresentationFormat>
  <Paragraphs>99</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Trebuchet MS</vt:lpstr>
      <vt:lpstr>Wingdings 3</vt:lpstr>
      <vt:lpstr>Facet</vt:lpstr>
      <vt:lpstr>CUSTOMER TRANSACTION ANALYSIS</vt:lpstr>
      <vt:lpstr>                    INTRODUCTION</vt:lpstr>
      <vt:lpstr>OBJECTIVE</vt:lpstr>
      <vt:lpstr>KEY CONCEPTS</vt:lpstr>
      <vt:lpstr>DATA COLLECTION</vt:lpstr>
      <vt:lpstr>PROCESS OF DATASET</vt:lpstr>
      <vt:lpstr>DATASET</vt:lpstr>
      <vt:lpstr>GRAPHICAL OVERVIEW </vt:lpstr>
      <vt:lpstr>PowerPoint Presentation</vt:lpstr>
      <vt:lpstr>RESULT OBTAINED</vt:lpstr>
      <vt:lpstr>              COMPARISON TABLE</vt:lpstr>
      <vt:lpstr>USER INTERFACE</vt:lpstr>
      <vt:lpstr>FUTURE IMPROVEMENTS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ANJALI ANIL</dc:creator>
  <cp:lastModifiedBy>vismaya m</cp:lastModifiedBy>
  <cp:revision>22</cp:revision>
  <dcterms:created xsi:type="dcterms:W3CDTF">2025-07-26T03:22:29Z</dcterms:created>
  <dcterms:modified xsi:type="dcterms:W3CDTF">2025-11-19T04:27:27Z</dcterms:modified>
</cp:coreProperties>
</file>